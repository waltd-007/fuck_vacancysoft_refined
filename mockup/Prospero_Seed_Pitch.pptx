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0F0F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  <c:pt idx="3">
                    <c:v>Year 4</c:v>
                  </c:pt>
                  <c:pt idx="4">
                    <c:v>Year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580</c:v>
                </c:pt>
                <c:pt idx="2">
                  <c:v>1800</c:v>
                </c:pt>
                <c:pt idx="3">
                  <c:v>4200</c:v>
                </c:pt>
                <c:pt idx="4">
                  <c:v>8500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0F0F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A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6C5CE7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800" kern="0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PROSPERO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2240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29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Recruitment Intelligence Platform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2880360"/>
            <a:ext cx="2743200" cy="0"/>
          </a:xfrm>
          <a:prstGeom prst="line">
            <a:avLst/>
          </a:prstGeom>
          <a:noFill/>
          <a:ln w="19050">
            <a:solidFill>
              <a:srgbClr val="6C5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108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vacancy. Every hiring manager. Every outreach.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Investment Pitch  |  April 2026  |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6C5CE7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Recruitment agencies are losing deals they should be winning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3840480" cy="777240"/>
          </a:xfrm>
          <a:prstGeom prst="roundRect">
            <a:avLst>
              <a:gd name="adj" fmla="val 7059"/>
            </a:avLst>
          </a:prstGeom>
          <a:solidFill>
            <a:srgbClr val="1A1A2E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173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011680" y="1417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sites a recruiter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monitors manually per day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3840480" cy="777240"/>
          </a:xfrm>
          <a:prstGeom prst="roundRect">
            <a:avLst>
              <a:gd name="adj" fmla="val 7059"/>
            </a:avLst>
          </a:prstGeom>
          <a:solidFill>
            <a:srgbClr val="1A1A2E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317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72hrs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011680" y="23317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time to spot a new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vacancy vs competitors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3840480" cy="777240"/>
          </a:xfrm>
          <a:prstGeom prst="roundRect">
            <a:avLst>
              <a:gd name="adj" fmla="val 7059"/>
            </a:avLst>
          </a:prstGeom>
          <a:solidFill>
            <a:srgbClr val="1A1A2E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461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011680" y="3246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outreach emails are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and ignored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3840480" cy="777240"/>
          </a:xfrm>
          <a:prstGeom prst="roundRect">
            <a:avLst>
              <a:gd name="adj" fmla="val 7059"/>
            </a:avLst>
          </a:prstGeom>
          <a:solidFill>
            <a:srgbClr val="1A1A2E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605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4.2hrs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011680" y="4160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spent daily on admin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selling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371600"/>
            <a:ext cx="3840480" cy="3200400"/>
          </a:xfrm>
          <a:prstGeom prst="roundRect">
            <a:avLst>
              <a:gd name="adj" fmla="val 2286"/>
            </a:avLst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155448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recruiter who reaches the
hiring manager first with a
relevant, intelligent message
wins the mandate.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A29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else is noise.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 that doing this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manually across hundreds of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is impossible.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6C5CE7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Prospero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AI-powered platform that automates the entire recruitment lead lifecycle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874520" cy="2011680"/>
          </a:xfrm>
          <a:prstGeom prst="roundRect">
            <a:avLst>
              <a:gd name="adj" fmla="val 3902"/>
            </a:avLst>
          </a:prstGeom>
          <a:solidFill>
            <a:srgbClr val="1A1A2E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1554480"/>
            <a:ext cx="640080" cy="64008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800+ sources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scraped daily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14600" y="20574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70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88920" y="1371600"/>
            <a:ext cx="1874520" cy="2011680"/>
          </a:xfrm>
          <a:prstGeom prst="roundRect">
            <a:avLst>
              <a:gd name="adj" fmla="val 3902"/>
            </a:avLst>
          </a:prstGeom>
          <a:solidFill>
            <a:srgbClr val="1A1A2E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554480"/>
            <a:ext cx="640080" cy="640080"/>
          </a:xfrm>
          <a:prstGeom prst="ellipse">
            <a:avLst/>
          </a:prstGeom>
          <a:solidFill>
            <a:srgbClr val="4DABF7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26080" y="23317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A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26517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classification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scoring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20574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70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1371600"/>
            <a:ext cx="1874520" cy="2011680"/>
          </a:xfrm>
          <a:prstGeom prst="roundRect">
            <a:avLst>
              <a:gd name="adj" fmla="val 3902"/>
            </a:avLst>
          </a:prstGeom>
          <a:solidFill>
            <a:srgbClr val="1A1A2E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32120" y="1554480"/>
            <a:ext cx="640080" cy="640080"/>
          </a:xfrm>
          <a:prstGeom prst="ellipse">
            <a:avLst/>
          </a:prstGeom>
          <a:solidFill>
            <a:srgbClr val="00D2A0"/>
          </a:solidFill>
          <a:ln/>
        </p:spPr>
      </p:sp>
      <p:sp>
        <p:nvSpPr>
          <p:cNvPr id="19" name="Text 17"/>
          <p:cNvSpPr/>
          <p:nvPr/>
        </p:nvSpPr>
        <p:spPr>
          <a:xfrm>
            <a:off x="55321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74920" y="23317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74920" y="26517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manager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20574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70"/>
                </a:solidFill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86600" y="1371600"/>
            <a:ext cx="1874520" cy="2011680"/>
          </a:xfrm>
          <a:prstGeom prst="roundRect">
            <a:avLst>
              <a:gd name="adj" fmla="val 3902"/>
            </a:avLst>
          </a:prstGeom>
          <a:solidFill>
            <a:srgbClr val="1A1A2E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80960" y="1554480"/>
            <a:ext cx="640080" cy="640080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25" name="Text 23"/>
          <p:cNvSpPr/>
          <p:nvPr/>
        </p:nvSpPr>
        <p:spPr>
          <a:xfrm>
            <a:off x="76809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223760" y="23317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23760" y="26517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5-step email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3749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29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job posted to hiring manager contacted in hours, not days. Fully automated.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41148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manual monitoring. No spreadsheet tracking. No missed opportunities.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6C5CE7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global recruitment industry is massive, fragmented, and underserved by technology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63040" y="1645920"/>
            <a:ext cx="2194560" cy="2194560"/>
          </a:xfrm>
          <a:prstGeom prst="ellipse">
            <a:avLst/>
          </a:prstGeom>
          <a:solidFill>
            <a:srgbClr val="6C5CE7">
              <a:alpha val="25000"/>
            </a:srgbClr>
          </a:solidFill>
          <a:ln w="19050">
            <a:solidFill>
              <a:srgbClr val="6C5C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65960" y="1600200"/>
            <a:ext cx="1737360" cy="1737360"/>
          </a:xfrm>
          <a:prstGeom prst="ellipse">
            <a:avLst/>
          </a:prstGeom>
          <a:solidFill>
            <a:srgbClr val="4DABF7">
              <a:alpha val="25000"/>
            </a:srgbClr>
          </a:solidFill>
          <a:ln w="19050">
            <a:solidFill>
              <a:srgbClr val="4DAB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68880" y="1554480"/>
            <a:ext cx="1280160" cy="1280160"/>
          </a:xfrm>
          <a:prstGeom prst="ellipse">
            <a:avLst/>
          </a:prstGeom>
          <a:solidFill>
            <a:srgbClr val="00D2A0">
              <a:alpha val="25000"/>
            </a:srgbClr>
          </a:solidFill>
          <a:ln w="19050">
            <a:solidFill>
              <a:srgbClr val="00D2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29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TAM: $500B+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staffing and recruitment industry revenue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A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SAM: $45B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 recruiters in professional/white-collar verticals globally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SOM: $2.5B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agencies actively investing in tech-driven lead generation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069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170,000+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" y="4526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Recruitment firms globally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397764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4069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383280" y="4526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tech spend growth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397764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40690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&lt;5%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126480" y="4526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Currently use AI lead gen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6C5CE7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recruiter adds a source in seconds. The platform does the rest.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07592"/>
            <a:ext cx="457200" cy="45720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07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 URL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08960" y="12344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 pastes any careers page URL. System auto-detects the platform (Workday, Greenhouse, iCIMS, etc.) and validates it in under 3 seconds.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92808"/>
            <a:ext cx="7863840" cy="0"/>
          </a:xfrm>
          <a:prstGeom prst="line">
            <a:avLst/>
          </a:prstGeom>
          <a:noFill/>
          <a:ln w="6350">
            <a:solidFill>
              <a:srgbClr val="2A2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4DABF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198424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A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Jobs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08960" y="198424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automated scraping across all configured sources. 29 dedicated adapters + a universal browser scraper that handles Cloudflare, SPAs, and iframes.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642616"/>
            <a:ext cx="7863840" cy="0"/>
          </a:xfrm>
          <a:prstGeom prst="line">
            <a:avLst/>
          </a:prstGeom>
          <a:noFill/>
          <a:ln w="6350">
            <a:solidFill>
              <a:srgbClr val="2A2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807208"/>
            <a:ext cx="457200" cy="457200"/>
          </a:xfrm>
          <a:prstGeom prst="ellipse">
            <a:avLst/>
          </a:prstGeom>
          <a:solidFill>
            <a:srgbClr val="00D2A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273405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 &amp; Score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08960" y="2734056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are classified into tenant-defined categories, scored against configurable criteria, and filtered by geography. Only qualified leads surface.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392424"/>
            <a:ext cx="7863840" cy="0"/>
          </a:xfrm>
          <a:prstGeom prst="line">
            <a:avLst/>
          </a:prstGeom>
          <a:noFill/>
          <a:ln w="6350">
            <a:solidFill>
              <a:srgbClr val="2A2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557016"/>
            <a:ext cx="457200" cy="457200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348386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Decision Makers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108960" y="3483864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identifies up to 3 probable hiring managers per lead with confidence scores. CRM integration (Bullhorn) cross-references existing contacts.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142232"/>
            <a:ext cx="7863840" cy="0"/>
          </a:xfrm>
          <a:prstGeom prst="line">
            <a:avLst/>
          </a:prstGeom>
          <a:noFill/>
          <a:ln w="6350">
            <a:solidFill>
              <a:srgbClr val="2A2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306824"/>
            <a:ext cx="457200" cy="457200"/>
          </a:xfrm>
          <a:prstGeom prst="ellipse">
            <a:avLst/>
          </a:prstGeom>
          <a:solidFill>
            <a:srgbClr val="A29BFE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0160" y="423367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9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Outreach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108960" y="4233672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5-step email campaigns with per-step tone control (formal, technical, candidate spec, etc.), configurable timing, open/reply tracking, and meeting detection.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6C5CE7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Prospero Wins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platform that covers the full lifecycle: discovery to outreach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325880"/>
                <a:gridCol w="1325880"/>
                <a:gridCol w="1325880"/>
                <a:gridCol w="13258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F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Prospero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888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888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Recruiter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888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 Board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888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888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Outreach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888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Multi-source discovery (800+)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2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Auto-detect any ATS platform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2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classification &amp; scoring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2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Hiring manager identification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2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D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Multi-step email campaigns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2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D2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 integration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2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D2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D9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Open/reply/meeting tracking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2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D2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0F0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lifecycle in one platform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D2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6C5CE7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Validation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battle-tested against live production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sources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2801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29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6032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 adapters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DA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18,000+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6344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Jobs discovered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2801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A1A2E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66560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8229600" cy="2286000"/>
          </a:xfrm>
          <a:prstGeom prst="roundRect">
            <a:avLst>
              <a:gd name="adj" fmla="val 3200"/>
            </a:avLst>
          </a:prstGeom>
          <a:solidFill>
            <a:srgbClr val="1A1A2E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6974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have built and proven: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0632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scraping engine tested against Goldman Sachs, Citadel, Barclays, HSBC, and 700+ other sources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3558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Adapters for every major ATS: Workday, Greenhouse, iCIMS, Lever, Oracle Cloud, SuccessFactors, and 23 more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6484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browser scraper that defeats Cloudflare, handles SPAs, scans iframes, and resolves AJAX-loaded content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394106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hiring intelligence dossier generation with 5-step outreach sequences (live n8n workflow)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2336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normalisation across 650+ city rules and 39 countries with recruiter agency filtering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526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UI mockups and a complete Product Requirements Document ready for development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6C5CE7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SaaS subscription with usage-based expansion revenue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1A1A2E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£299/mo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sources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leads/mo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campaigns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users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2801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1E1E35"/>
          </a:solidFill>
          <a:ln w="19050">
            <a:solidFill>
              <a:srgbClr val="6C5C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37160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3756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874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£799/mo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611880" y="2423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sources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11880" y="2743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25,000 leads/mo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11880" y="30632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campaigns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11880" y="33832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users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2801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1A1A2E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1874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492240" y="2423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2743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30632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33832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unit economics at scale: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9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LTV:CAC &gt; 5:1   |   Gross margin &gt; 80%   |   Net revenue retention &gt; 120%   |   Payback &lt; 6 months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6C5CE7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and expand through vertical specialisation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06040" cy="3474720"/>
          </a:xfrm>
          <a:prstGeom prst="roundRect">
            <a:avLst>
              <a:gd name="adj" fmla="val 2807"/>
            </a:avLst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27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1-6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with One Vertical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internally at founding team's recruitment firm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791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 vertical: Risk, Quant, Compliance, Audit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02666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product-market fit with real billing data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37413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AI dossier quality and campaign conversion rates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280160"/>
            <a:ext cx="2606040" cy="3474720"/>
          </a:xfrm>
          <a:prstGeom prst="roundRect">
            <a:avLst>
              <a:gd name="adj" fmla="val 2807"/>
            </a:avLst>
          </a:prstGeom>
          <a:solidFill>
            <a:srgbClr val="1A1A2E"/>
          </a:solidFill>
          <a:ln w="12700">
            <a:solidFill>
              <a:srgbClr val="4DAB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4173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DA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37560" y="1627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6-12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0440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Verticals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2331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 10-20 pilot agencies across Tech, Legal, Life Sciences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20440" y="26791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vertical-specific category templates and prompt libraries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302666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self-serve onboarding for Starter tier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20440" y="337413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Salesforce and Vincere alongside Bullhorn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280160"/>
            <a:ext cx="2606040" cy="3474720"/>
          </a:xfrm>
          <a:prstGeom prst="roundRect">
            <a:avLst>
              <a:gd name="adj" fmla="val 2807"/>
            </a:avLst>
          </a:prstGeom>
          <a:solidFill>
            <a:srgbClr val="1A1A2E"/>
          </a:solidFill>
          <a:ln w="12700">
            <a:solidFill>
              <a:srgbClr val="00D2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41732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0" y="16276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12-24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Globally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2331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white-label deals with large staffing firms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267919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marketplace for custom integrations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302666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expansion (US, EU, APAC)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337413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partner channel with CRM vendors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6C5CE7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Projections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assumptions based on specialist recruitment agency market sizing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1280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Assumptions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760720" y="16916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clients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589520" y="16916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60720" y="20391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 clients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589520" y="20391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60720" y="238658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5 clients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0" y="23865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760720" y="27340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revenue/client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589520" y="27340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£750/mo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60720" y="30815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89520" y="30815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760720" y="34290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churn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89520" y="34290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760720" y="37764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589520" y="37764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£2,500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760720" y="41239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589520" y="412394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£18,000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9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5 target: £8.5M ARR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6C5CE7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expertise meets technical execution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1A1A2E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[Founder Name]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domain expertise in specialist recruitment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6791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validated the entire scraping engine (800+ sources, 29 adapters)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0266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the AI dossier generation workflow and outreach automation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37413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 the recruiter workflow from years of hands-on experience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7216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enough to architect, commercial enough to sell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1A1A2E"/>
          </a:solidFill>
          <a:ln w="9525">
            <a:solidFill>
              <a:srgbClr val="2A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5087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WITH SEED FUNDING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19202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/ Lead Engineer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0" y="1920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1031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Full-stack, SaaS experience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23774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Backend Dev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0" y="23774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25603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APIs, scraping infra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28346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Developer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0" y="28346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37760" y="30175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React/Next.js, design system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32918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Sales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0" y="32918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34747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Recruitment tech sales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37490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Success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0" y="37490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39319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Onboarding, support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6C5CE7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 to take Prospero from validated engine to commercial SaaS product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1A1A2E"/>
          </a:solidFill>
          <a:ln w="19050">
            <a:solidFill>
              <a:srgbClr val="6C5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D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£500,000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  |  18-month runway  |  SEIS/EIS eligible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(team of 3)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32918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29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32918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£275K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Marketing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3611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29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3611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£100K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&amp; APIs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39319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29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3931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£50K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Legal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4251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29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42519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£50K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4572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29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66160" y="4572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£25K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2926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18-Month Milestones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3291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launch (Month 4)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paying clients (Month 8)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931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clients (Month 14)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4251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£120K ARR (Month 12)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45720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ready (Month 18)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6C5CE7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1463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600" kern="0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PROSPERO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71600" y="23774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29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recruitment industry runs on relationships.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A29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make sure you start them first.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19050">
            <a:solidFill>
              <a:srgbClr val="6C5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3657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[founder@prospero.io]  |  [prospero.io]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206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Prospero - Seed Investment Pitch</dc:title>
  <dc:subject>PptxGenJS Presentation</dc:subject>
  <dc:creator>Prospero</dc:creator>
  <cp:lastModifiedBy>Prospero</cp:lastModifiedBy>
  <cp:revision>1</cp:revision>
  <dcterms:created xsi:type="dcterms:W3CDTF">2026-04-12T22:09:05Z</dcterms:created>
  <dcterms:modified xsi:type="dcterms:W3CDTF">2026-04-12T22:09:05Z</dcterms:modified>
</cp:coreProperties>
</file>