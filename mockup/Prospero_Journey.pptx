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6E0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ntonyberou/Documents/Work Stuff/AI Stuff/Python projects/Useful Code/fuck_vacancysoft_refined/mockup/bs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0040"/>
            <a:ext cx="1280160" cy="12801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8288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spc="5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PROSPERO</a:t>
            </a:r>
            <a:endParaRPr lang="en-US" sz="5400" dirty="0"/>
          </a:p>
        </p:txBody>
      </p:sp>
      <p:sp>
        <p:nvSpPr>
          <p:cNvPr id="4" name="Text 1"/>
          <p:cNvSpPr/>
          <p:nvPr/>
        </p:nvSpPr>
        <p:spPr>
          <a:xfrm>
            <a:off x="457200" y="2606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idea to intelligence platform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457200" y="30175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journey so far, and where we're going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Antony Berou  |  Head of Risk  |  April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6E0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58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731520"/>
          </a:xfrm>
          <a:prstGeom prst="roundRect">
            <a:avLst>
              <a:gd name="adj" fmla="val 7500"/>
            </a:avLst>
          </a:prstGeom>
          <a:solidFill>
            <a:srgbClr val="F8F9FA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14300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6E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150+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920240" y="1143000"/>
            <a:ext cx="6583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068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career sites to monitor manually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2011680"/>
            <a:ext cx="8229600" cy="731520"/>
          </a:xfrm>
          <a:prstGeom prst="roundRect">
            <a:avLst>
              <a:gd name="adj" fmla="val 7500"/>
            </a:avLst>
          </a:prstGeom>
          <a:solidFill>
            <a:srgbClr val="F8F9FA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05740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6E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72hrs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1920240" y="2057400"/>
            <a:ext cx="6583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068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we spot a new vacancy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7200" y="2926080"/>
            <a:ext cx="8229600" cy="731520"/>
          </a:xfrm>
          <a:prstGeom prst="roundRect">
            <a:avLst>
              <a:gd name="adj" fmla="val 7500"/>
            </a:avLst>
          </a:prstGeom>
          <a:solidFill>
            <a:srgbClr val="F8F9FA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97180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6E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85%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1920240" y="2971800"/>
            <a:ext cx="6583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068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outreach is generic and ignored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57200" y="3840480"/>
            <a:ext cx="8229600" cy="731520"/>
          </a:xfrm>
          <a:prstGeom prst="roundRect">
            <a:avLst>
              <a:gd name="adj" fmla="val 7500"/>
            </a:avLst>
          </a:prstGeom>
          <a:solidFill>
            <a:srgbClr val="F8F9FA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388620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6E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30min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1920240" y="3886200"/>
            <a:ext cx="6583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068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lead to research and write emails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0" y="4800600"/>
            <a:ext cx="9144000" cy="347472"/>
          </a:xfrm>
          <a:prstGeom prst="rect">
            <a:avLst/>
          </a:prstGeom>
          <a:solidFill>
            <a:srgbClr val="FF6E02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480060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Barclay Simpson Associates Ltd.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6E0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58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 Built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068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scraping engine — working today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4023360" cy="1280160"/>
          </a:xfrm>
          <a:prstGeom prst="roundRect">
            <a:avLst>
              <a:gd name="adj" fmla="val 5714"/>
            </a:avLst>
          </a:prstGeom>
          <a:solidFill>
            <a:srgbClr val="F8F9FA"/>
          </a:solidFill>
          <a:ln w="19050">
            <a:solidFill>
              <a:srgbClr val="FF6E0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41732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6E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780+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2560320" y="141732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068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 career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068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sites scraped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1280160"/>
            <a:ext cx="4023360" cy="1280160"/>
          </a:xfrm>
          <a:prstGeom prst="roundRect">
            <a:avLst>
              <a:gd name="adj" fmla="val 5714"/>
            </a:avLst>
          </a:prstGeom>
          <a:solidFill>
            <a:srgbClr val="F8F9FA"/>
          </a:solidFill>
          <a:ln w="19050">
            <a:solidFill>
              <a:srgbClr val="10585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0" y="141732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058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6858000" y="141732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068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ATS platform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068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adapters built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2834640"/>
            <a:ext cx="4023360" cy="1280160"/>
          </a:xfrm>
          <a:prstGeom prst="roundRect">
            <a:avLst>
              <a:gd name="adj" fmla="val 5714"/>
            </a:avLst>
          </a:prstGeom>
          <a:solidFill>
            <a:srgbClr val="F8F9FA"/>
          </a:solidFill>
          <a:ln w="19050">
            <a:solidFill>
              <a:srgbClr val="FF6E0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297180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6E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2560320" y="297180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068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Countries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068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covered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754880" y="2834640"/>
            <a:ext cx="4023360" cy="1280160"/>
          </a:xfrm>
          <a:prstGeom prst="roundRect">
            <a:avLst>
              <a:gd name="adj" fmla="val 5714"/>
            </a:avLst>
          </a:prstGeom>
          <a:solidFill>
            <a:srgbClr val="F8F9FA"/>
          </a:solidFill>
          <a:ln w="19050">
            <a:solidFill>
              <a:srgbClr val="10585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0" y="297180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058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&lt;3min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6858000" y="297180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068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lead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068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 to end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0" y="4800600"/>
            <a:ext cx="9144000" cy="347472"/>
          </a:xfrm>
          <a:prstGeom prst="rect">
            <a:avLst/>
          </a:prstGeom>
          <a:solidFill>
            <a:srgbClr val="FF6E02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480060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Barclay Simpson Associates Ltd.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0585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Works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EE4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10 weeks — just the AI prompt and SourceWhale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874520" cy="1463040"/>
          </a:xfrm>
          <a:prstGeom prst="roundRect">
            <a:avLst>
              <a:gd name="adj" fmla="val 5000"/>
            </a:avLst>
          </a:prstGeom>
          <a:solidFill>
            <a:srgbClr val="FFFFFF">
              <a:alpha val="9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417320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219456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Campaigns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606040" y="1371600"/>
            <a:ext cx="1874520" cy="1463040"/>
          </a:xfrm>
          <a:prstGeom prst="roundRect">
            <a:avLst>
              <a:gd name="adj" fmla="val 5000"/>
            </a:avLst>
          </a:prstGeom>
          <a:solidFill>
            <a:srgbClr val="FFFFFF">
              <a:alpha val="9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2606040" y="1417320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2606040" y="219456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Jobs Won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754880" y="1371600"/>
            <a:ext cx="1874520" cy="1463040"/>
          </a:xfrm>
          <a:prstGeom prst="roundRect">
            <a:avLst>
              <a:gd name="adj" fmla="val 5000"/>
            </a:avLst>
          </a:prstGeom>
          <a:solidFill>
            <a:srgbClr val="FFFFFF">
              <a:alpha val="9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4754880" y="1417320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6E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4754880" y="219456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Placement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903720" y="1371600"/>
            <a:ext cx="1874520" cy="1463040"/>
          </a:xfrm>
          <a:prstGeom prst="roundRect">
            <a:avLst>
              <a:gd name="adj" fmla="val 5000"/>
            </a:avLst>
          </a:prstGeom>
          <a:solidFill>
            <a:srgbClr val="FFFFFF">
              <a:alpha val="9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6903720" y="1417320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6E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£26K</a:t>
            </a:r>
            <a:endParaRPr lang="en-US" sz="4400" dirty="0"/>
          </a:p>
        </p:txBody>
      </p:sp>
      <p:sp>
        <p:nvSpPr>
          <p:cNvPr id="15" name="Text 13"/>
          <p:cNvSpPr/>
          <p:nvPr/>
        </p:nvSpPr>
        <p:spPr>
          <a:xfrm>
            <a:off x="6903720" y="219456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32004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wouldn't have found the job without it.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457200" y="3611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EE4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Campaigns still running. More will convert.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6E0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I Am Now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068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Leads served to Teams automatically. Outreach campaigns created on demand.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4160520" cy="3657600"/>
          </a:xfrm>
          <a:prstGeom prst="roundRect">
            <a:avLst>
              <a:gd name="adj" fmla="val 1500"/>
            </a:avLst>
          </a:prstGeom>
          <a:solidFill>
            <a:srgbClr val="1A1A2E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pic>
        <p:nvPicPr>
          <p:cNvPr id="6" name="Image 0" descr="/Users/antonyberou/Desktop/teams_lead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5760" y="1051560"/>
            <a:ext cx="3977640" cy="34747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74320" y="4206240"/>
            <a:ext cx="4160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6E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Lead Feed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4709160" y="960120"/>
            <a:ext cx="4160520" cy="3657600"/>
          </a:xfrm>
          <a:prstGeom prst="roundRect">
            <a:avLst>
              <a:gd name="adj" fmla="val 1500"/>
            </a:avLst>
          </a:prstGeom>
          <a:solidFill>
            <a:srgbClr val="1A1A2E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pic>
        <p:nvPicPr>
          <p:cNvPr id="9" name="Image 1" descr="/Users/antonyberou/Desktop/teams_outreach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800600" y="1051560"/>
            <a:ext cx="3977640" cy="34747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709160" y="4206240"/>
            <a:ext cx="4160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6E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AI-Generated Outreach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6E0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58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1097280"/>
            <a:ext cx="1965960" cy="3108960"/>
          </a:xfrm>
          <a:prstGeom prst="roundRect">
            <a:avLst>
              <a:gd name="adj" fmla="val 3721"/>
            </a:avLst>
          </a:prstGeom>
          <a:solidFill>
            <a:srgbClr val="F8F9FA"/>
          </a:solidFill>
          <a:ln w="19050">
            <a:solidFill>
              <a:srgbClr val="FF6E0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325880"/>
            <a:ext cx="777240" cy="777240"/>
          </a:xfrm>
          <a:prstGeom prst="ellipse">
            <a:avLst/>
          </a:prstGeom>
          <a:solidFill>
            <a:srgbClr val="FF6E02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3258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228600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FF6E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PASTE A URL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269748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068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 company careers page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85800" y="3520440"/>
            <a:ext cx="1234440" cy="320040"/>
          </a:xfrm>
          <a:prstGeom prst="roundRect">
            <a:avLst>
              <a:gd name="adj" fmla="val 11429"/>
            </a:avLst>
          </a:prstGeom>
          <a:solidFill>
            <a:srgbClr val="FF6E02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352044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seconds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286000" y="210312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CCCCC"/>
                </a:solidFill>
              </a:rPr>
              <a:t>▶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560320" y="1097280"/>
            <a:ext cx="1965960" cy="3108960"/>
          </a:xfrm>
          <a:prstGeom prst="roundRect">
            <a:avLst>
              <a:gd name="adj" fmla="val 3721"/>
            </a:avLst>
          </a:prstGeom>
          <a:solidFill>
            <a:srgbClr val="F8F9FA"/>
          </a:solidFill>
          <a:ln w="19050">
            <a:solidFill>
              <a:srgbClr val="10585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154680" y="1325880"/>
            <a:ext cx="777240" cy="777240"/>
          </a:xfrm>
          <a:prstGeom prst="ellipse">
            <a:avLst/>
          </a:prstGeom>
          <a:solidFill>
            <a:srgbClr val="105856"/>
          </a:solidFill>
          <a:ln/>
        </p:spPr>
      </p:sp>
      <p:sp>
        <p:nvSpPr>
          <p:cNvPr id="14" name="Text 12"/>
          <p:cNvSpPr/>
          <p:nvPr/>
        </p:nvSpPr>
        <p:spPr>
          <a:xfrm>
            <a:off x="3154680" y="13258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2697480" y="228600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1058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AUTO-DETECT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697480" y="269748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068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identified,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068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jobs counted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926080" y="3520440"/>
            <a:ext cx="1234440" cy="320040"/>
          </a:xfrm>
          <a:prstGeom prst="roundRect">
            <a:avLst>
              <a:gd name="adj" fmla="val 11429"/>
            </a:avLst>
          </a:prstGeom>
          <a:solidFill>
            <a:srgbClr val="105856"/>
          </a:solidFill>
          <a:ln/>
        </p:spPr>
      </p:sp>
      <p:sp>
        <p:nvSpPr>
          <p:cNvPr id="18" name="Text 16"/>
          <p:cNvSpPr/>
          <p:nvPr/>
        </p:nvSpPr>
        <p:spPr>
          <a:xfrm>
            <a:off x="2926080" y="352044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Instant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26280" y="210312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CCCCC"/>
                </a:solidFill>
              </a:rPr>
              <a:t>▶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800600" y="1097280"/>
            <a:ext cx="1965960" cy="3108960"/>
          </a:xfrm>
          <a:prstGeom prst="roundRect">
            <a:avLst>
              <a:gd name="adj" fmla="val 3721"/>
            </a:avLst>
          </a:prstGeom>
          <a:solidFill>
            <a:srgbClr val="F8F9FA"/>
          </a:solidFill>
          <a:ln w="19050">
            <a:solidFill>
              <a:srgbClr val="FF6E0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394960" y="1325880"/>
            <a:ext cx="777240" cy="777240"/>
          </a:xfrm>
          <a:prstGeom prst="ellipse">
            <a:avLst/>
          </a:prstGeom>
          <a:solidFill>
            <a:srgbClr val="FF6E02"/>
          </a:solidFill>
          <a:ln/>
        </p:spPr>
      </p:sp>
      <p:sp>
        <p:nvSpPr>
          <p:cNvPr id="22" name="Text 20"/>
          <p:cNvSpPr/>
          <p:nvPr/>
        </p:nvSpPr>
        <p:spPr>
          <a:xfrm>
            <a:off x="5394960" y="13258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4937760" y="228600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FF6E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SCRAPE &amp; SCORE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937760" y="269748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068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job classified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068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into our categories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166360" y="3520440"/>
            <a:ext cx="1234440" cy="320040"/>
          </a:xfrm>
          <a:prstGeom prst="roundRect">
            <a:avLst>
              <a:gd name="adj" fmla="val 11429"/>
            </a:avLst>
          </a:prstGeom>
          <a:solidFill>
            <a:srgbClr val="FF6E02"/>
          </a:solidFill>
          <a:ln/>
        </p:spPr>
      </p:sp>
      <p:sp>
        <p:nvSpPr>
          <p:cNvPr id="26" name="Text 24"/>
          <p:cNvSpPr/>
          <p:nvPr/>
        </p:nvSpPr>
        <p:spPr>
          <a:xfrm>
            <a:off x="5166360" y="352044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seconds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766560" y="210312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CCCCC"/>
                </a:solidFill>
              </a:rPr>
              <a:t>▶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7040880" y="1097280"/>
            <a:ext cx="1965960" cy="3108960"/>
          </a:xfrm>
          <a:prstGeom prst="roundRect">
            <a:avLst>
              <a:gd name="adj" fmla="val 3721"/>
            </a:avLst>
          </a:prstGeom>
          <a:solidFill>
            <a:srgbClr val="F8F9FA"/>
          </a:solidFill>
          <a:ln w="19050">
            <a:solidFill>
              <a:srgbClr val="10585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635240" y="1325880"/>
            <a:ext cx="777240" cy="777240"/>
          </a:xfrm>
          <a:prstGeom prst="ellipse">
            <a:avLst/>
          </a:prstGeom>
          <a:solidFill>
            <a:srgbClr val="105856"/>
          </a:solidFill>
          <a:ln/>
        </p:spPr>
      </p:sp>
      <p:sp>
        <p:nvSpPr>
          <p:cNvPr id="30" name="Text 28"/>
          <p:cNvSpPr/>
          <p:nvPr/>
        </p:nvSpPr>
        <p:spPr>
          <a:xfrm>
            <a:off x="7635240" y="13258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800" dirty="0"/>
          </a:p>
        </p:txBody>
      </p:sp>
      <p:sp>
        <p:nvSpPr>
          <p:cNvPr id="31" name="Text 29"/>
          <p:cNvSpPr/>
          <p:nvPr/>
        </p:nvSpPr>
        <p:spPr>
          <a:xfrm>
            <a:off x="7178040" y="228600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1058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INTELLIGENCE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7178040" y="269748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068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dossier, hiring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068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manager, outreach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7406640" y="3520440"/>
            <a:ext cx="1234440" cy="320040"/>
          </a:xfrm>
          <a:prstGeom prst="roundRect">
            <a:avLst>
              <a:gd name="adj" fmla="val 11429"/>
            </a:avLst>
          </a:prstGeom>
          <a:solidFill>
            <a:srgbClr val="105856"/>
          </a:solidFill>
          <a:ln/>
        </p:spPr>
      </p:sp>
      <p:sp>
        <p:nvSpPr>
          <p:cNvPr id="34" name="Text 32"/>
          <p:cNvSpPr/>
          <p:nvPr/>
        </p:nvSpPr>
        <p:spPr>
          <a:xfrm>
            <a:off x="7406640" y="352044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minutes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0" y="4800600"/>
            <a:ext cx="9144000" cy="347472"/>
          </a:xfrm>
          <a:prstGeom prst="rect">
            <a:avLst/>
          </a:prstGeom>
          <a:solidFill>
            <a:srgbClr val="FF6E02"/>
          </a:solidFill>
          <a:ln/>
        </p:spPr>
      </p:sp>
      <p:sp>
        <p:nvSpPr>
          <p:cNvPr id="36" name="Text 34"/>
          <p:cNvSpPr/>
          <p:nvPr/>
        </p:nvSpPr>
        <p:spPr>
          <a:xfrm>
            <a:off x="457200" y="480060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Barclay Simpson Associates Ltd.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6E0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Platform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068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web application — built and running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960120"/>
            <a:ext cx="8503920" cy="3703320"/>
          </a:xfrm>
          <a:prstGeom prst="roundRect">
            <a:avLst>
              <a:gd name="adj" fmla="val 1481"/>
            </a:avLst>
          </a:prstGeom>
          <a:solidFill>
            <a:srgbClr val="1A1A2E"/>
          </a:solidFill>
          <a:ln/>
          <a:effectLst>
            <a:outerShdw sx="100000" sy="100000" kx="0" ky="0" algn="bl" rotWithShape="0" blurRad="127000" dist="50800" dir="8100000">
              <a:srgbClr val="000000">
                <a:alpha val="50000"/>
              </a:srgbClr>
            </a:outerShdw>
          </a:effectLst>
        </p:spPr>
      </p:sp>
      <p:pic>
        <p:nvPicPr>
          <p:cNvPr id="6" name="Image 0" descr="/Users/antonyberou/Documents/Work Stuff/AI Stuff/Python projects/Useful Code/fuck_vacancysoft_refined/mockup/screenshot_live_sourc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005840"/>
            <a:ext cx="8321040" cy="35661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6E0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What's Coming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068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Dashboard, lead management, campaign automation — all designed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868680"/>
            <a:ext cx="4160520" cy="1920240"/>
          </a:xfrm>
          <a:prstGeom prst="roundRect">
            <a:avLst>
              <a:gd name="adj" fmla="val 2857"/>
            </a:avLst>
          </a:prstGeom>
          <a:solidFill>
            <a:srgbClr val="1A1A2E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pic>
        <p:nvPicPr>
          <p:cNvPr id="6" name="Image 0" descr="/Users/antonyberou/Documents/Work Stuff/AI Stuff/Python projects/Useful Code/fuck_vacancysoft_refined/mockup/screenshot_mockup_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914400"/>
            <a:ext cx="4069080" cy="1645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20040" y="2578608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6E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Dashboard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4663440" y="868680"/>
            <a:ext cx="4160520" cy="1920240"/>
          </a:xfrm>
          <a:prstGeom prst="roundRect">
            <a:avLst>
              <a:gd name="adj" fmla="val 2857"/>
            </a:avLst>
          </a:prstGeom>
          <a:solidFill>
            <a:srgbClr val="1A1A2E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pic>
        <p:nvPicPr>
          <p:cNvPr id="9" name="Image 1" descr="/Users/antonyberou/Documents/Work Stuff/AI Stuff/Python projects/Useful Code/fuck_vacancysoft_refined/mockup/screenshot_mockup_lead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160" y="914400"/>
            <a:ext cx="4069080" cy="16459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709160" y="2578608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6E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 List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274320" y="2926080"/>
            <a:ext cx="4160520" cy="1920240"/>
          </a:xfrm>
          <a:prstGeom prst="roundRect">
            <a:avLst>
              <a:gd name="adj" fmla="val 2857"/>
            </a:avLst>
          </a:prstGeom>
          <a:solidFill>
            <a:srgbClr val="1A1A2E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pic>
        <p:nvPicPr>
          <p:cNvPr id="12" name="Image 2" descr="/Users/antonyberou/Documents/Work Stuff/AI Stuff/Python projects/Useful Code/fuck_vacancysoft_refined/mockup/screenshot_mockup_campaign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2971800"/>
            <a:ext cx="4069080" cy="164592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20040" y="4636008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6E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Campaign Tracking</a:t>
            </a:r>
            <a:endParaRPr lang="en-US" sz="1000" dirty="0"/>
          </a:p>
        </p:txBody>
      </p:sp>
      <p:sp>
        <p:nvSpPr>
          <p:cNvPr id="14" name="Shape 9"/>
          <p:cNvSpPr/>
          <p:nvPr/>
        </p:nvSpPr>
        <p:spPr>
          <a:xfrm>
            <a:off x="4663440" y="2926080"/>
            <a:ext cx="4160520" cy="1920240"/>
          </a:xfrm>
          <a:prstGeom prst="roundRect">
            <a:avLst>
              <a:gd name="adj" fmla="val 2857"/>
            </a:avLst>
          </a:prstGeom>
          <a:solidFill>
            <a:srgbClr val="1A1A2E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pic>
        <p:nvPicPr>
          <p:cNvPr id="15" name="Image 3" descr="/Users/antonyberou/Documents/Work Stuff/AI Stuff/Python projects/Useful Code/fuck_vacancysoft_refined/mockup/screenshot_mockup_builde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9160" y="2971800"/>
            <a:ext cx="4069080" cy="164592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4709160" y="4636008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6E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Campaign Builder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6E0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58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Roadmap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2651760" cy="3474720"/>
          </a:xfrm>
          <a:prstGeom prst="roundRect">
            <a:avLst>
              <a:gd name="adj" fmla="val 2759"/>
            </a:avLst>
          </a:prstGeom>
          <a:solidFill>
            <a:srgbClr val="F8F9FA"/>
          </a:solidFill>
          <a:ln w="19050">
            <a:solidFill>
              <a:srgbClr val="FF6E0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005840"/>
            <a:ext cx="2651760" cy="640080"/>
          </a:xfrm>
          <a:prstGeom prst="roundRect">
            <a:avLst>
              <a:gd name="adj" fmla="val 11429"/>
            </a:avLst>
          </a:prstGeom>
          <a:solidFill>
            <a:srgbClr val="FF6E02"/>
          </a:solidFill>
          <a:ln/>
        </p:spPr>
      </p:sp>
      <p:sp>
        <p:nvSpPr>
          <p:cNvPr id="6" name="Shape 4"/>
          <p:cNvSpPr/>
          <p:nvPr/>
        </p:nvSpPr>
        <p:spPr>
          <a:xfrm>
            <a:off x="320040" y="1371600"/>
            <a:ext cx="2651760" cy="274320"/>
          </a:xfrm>
          <a:prstGeom prst="rect">
            <a:avLst/>
          </a:prstGeom>
          <a:solidFill>
            <a:srgbClr val="FF6E02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0515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135331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Today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02920" y="18288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068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780+ boards scraped daily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23317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068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dossiers + 5-step outreach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28346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068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Leads served to Teams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" y="33375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068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UI for source management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46120" y="1005840"/>
            <a:ext cx="2651760" cy="3474720"/>
          </a:xfrm>
          <a:prstGeom prst="roundRect">
            <a:avLst>
              <a:gd name="adj" fmla="val 2759"/>
            </a:avLst>
          </a:prstGeom>
          <a:solidFill>
            <a:srgbClr val="F8F9FA"/>
          </a:solidFill>
          <a:ln w="19050">
            <a:solidFill>
              <a:srgbClr val="10585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46120" y="1005840"/>
            <a:ext cx="2651760" cy="640080"/>
          </a:xfrm>
          <a:prstGeom prst="roundRect">
            <a:avLst>
              <a:gd name="adj" fmla="val 11429"/>
            </a:avLst>
          </a:prstGeom>
          <a:solidFill>
            <a:srgbClr val="105856"/>
          </a:solidFill>
          <a:ln/>
        </p:spPr>
      </p:sp>
      <p:sp>
        <p:nvSpPr>
          <p:cNvPr id="15" name="Shape 13"/>
          <p:cNvSpPr/>
          <p:nvPr/>
        </p:nvSpPr>
        <p:spPr>
          <a:xfrm>
            <a:off x="3246120" y="1371600"/>
            <a:ext cx="2651760" cy="274320"/>
          </a:xfrm>
          <a:prstGeom prst="rect">
            <a:avLst/>
          </a:prstGeom>
          <a:solidFill>
            <a:srgbClr val="105856"/>
          </a:solidFill>
          <a:ln/>
        </p:spPr>
      </p:sp>
      <p:sp>
        <p:nvSpPr>
          <p:cNvPr id="16" name="Text 14"/>
          <p:cNvSpPr/>
          <p:nvPr/>
        </p:nvSpPr>
        <p:spPr>
          <a:xfrm>
            <a:off x="3383280" y="10515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383280" y="135331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Platform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429000" y="18288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068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lead feed + queue to campaign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429000" y="23317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068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automation via Outlook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429000" y="28346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068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Hiring manager ID + CRM sync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29000" y="33375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068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Consultant dashboard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172200" y="1005840"/>
            <a:ext cx="2651760" cy="3474720"/>
          </a:xfrm>
          <a:prstGeom prst="roundRect">
            <a:avLst>
              <a:gd name="adj" fmla="val 2759"/>
            </a:avLst>
          </a:prstGeom>
          <a:solidFill>
            <a:srgbClr val="F8F9FA"/>
          </a:solidFill>
          <a:ln w="19050">
            <a:solidFill>
              <a:srgbClr val="60686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172200" y="1005840"/>
            <a:ext cx="2651760" cy="640080"/>
          </a:xfrm>
          <a:prstGeom prst="roundRect">
            <a:avLst>
              <a:gd name="adj" fmla="val 11429"/>
            </a:avLst>
          </a:prstGeom>
          <a:solidFill>
            <a:srgbClr val="60686E"/>
          </a:solidFill>
          <a:ln/>
        </p:spPr>
      </p:sp>
      <p:sp>
        <p:nvSpPr>
          <p:cNvPr id="24" name="Shape 22"/>
          <p:cNvSpPr/>
          <p:nvPr/>
        </p:nvSpPr>
        <p:spPr>
          <a:xfrm>
            <a:off x="6172200" y="1371600"/>
            <a:ext cx="2651760" cy="274320"/>
          </a:xfrm>
          <a:prstGeom prst="rect">
            <a:avLst/>
          </a:prstGeom>
          <a:solidFill>
            <a:srgbClr val="60686E"/>
          </a:solidFill>
          <a:ln/>
        </p:spPr>
      </p:sp>
      <p:sp>
        <p:nvSpPr>
          <p:cNvPr id="25" name="Text 23"/>
          <p:cNvSpPr/>
          <p:nvPr/>
        </p:nvSpPr>
        <p:spPr>
          <a:xfrm>
            <a:off x="6309360" y="10515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309360" y="135331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Commercial Product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355080" y="18288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068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SaaS for any recruitment agency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355080" y="23317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068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 vertical, any country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355080" y="28346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068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White-labelled per client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355080" y="33375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068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 discovery engine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0" y="4800600"/>
            <a:ext cx="9144000" cy="347472"/>
          </a:xfrm>
          <a:prstGeom prst="rect">
            <a:avLst/>
          </a:prstGeom>
          <a:solidFill>
            <a:srgbClr val="FF6E02"/>
          </a:solidFill>
          <a:ln/>
        </p:spPr>
      </p:sp>
      <p:sp>
        <p:nvSpPr>
          <p:cNvPr id="32" name="Text 30"/>
          <p:cNvSpPr/>
          <p:nvPr/>
        </p:nvSpPr>
        <p:spPr>
          <a:xfrm>
            <a:off x="457200" y="480060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Barclay Simpson Associates Ltd.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6E0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58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Ask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2606040" cy="1828800"/>
          </a:xfrm>
          <a:prstGeom prst="roundRect">
            <a:avLst>
              <a:gd name="adj" fmla="val 4000"/>
            </a:avLst>
          </a:prstGeom>
          <a:solidFill>
            <a:srgbClr val="F8F9FA"/>
          </a:solidFill>
          <a:ln w="19050">
            <a:solidFill>
              <a:srgbClr val="FF6E0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18872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6E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457200" y="192024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Consultants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24028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068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3-month pilot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337560" y="1097280"/>
            <a:ext cx="2606040" cy="1828800"/>
          </a:xfrm>
          <a:prstGeom prst="roundRect">
            <a:avLst>
              <a:gd name="adj" fmla="val 4000"/>
            </a:avLst>
          </a:prstGeom>
          <a:solidFill>
            <a:srgbClr val="F8F9FA"/>
          </a:solidFill>
          <a:ln w="19050">
            <a:solidFill>
              <a:srgbClr val="10585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37560" y="118872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058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3337560" y="192024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337560" y="224028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068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prove ROI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17920" y="1097280"/>
            <a:ext cx="2606040" cy="1828800"/>
          </a:xfrm>
          <a:prstGeom prst="roundRect">
            <a:avLst>
              <a:gd name="adj" fmla="val 4000"/>
            </a:avLst>
          </a:prstGeom>
          <a:solidFill>
            <a:srgbClr val="F8F9FA"/>
          </a:solidFill>
          <a:ln w="19050">
            <a:solidFill>
              <a:srgbClr val="FF6E0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0" y="118872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6E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4800" dirty="0"/>
          </a:p>
        </p:txBody>
      </p:sp>
      <p:sp>
        <p:nvSpPr>
          <p:cNvPr id="14" name="Text 12"/>
          <p:cNvSpPr/>
          <p:nvPr/>
        </p:nvSpPr>
        <p:spPr>
          <a:xfrm>
            <a:off x="6217920" y="192024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217920" y="224028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068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roll out or walk away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291840"/>
            <a:ext cx="8229600" cy="1280160"/>
          </a:xfrm>
          <a:prstGeom prst="roundRect">
            <a:avLst>
              <a:gd name="adj" fmla="val 5714"/>
            </a:avLst>
          </a:prstGeom>
          <a:solidFill>
            <a:srgbClr val="105856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38328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E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bigger picture: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0080" y="365760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the pilot works, every consultant gets a daily pipeline of scored, qualified leads
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AI intelligence and automated outreach. From their Outlook. Hands-free.
</a:t>
            </a:r>
            <a:pPr indent="0" marL="0">
              <a:buNone/>
            </a:pPr>
            <a:r>
              <a:rPr lang="en-US" sz="1200" i="1" dirty="0">
                <a:solidFill>
                  <a:srgbClr val="FEE4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beyond Barclay Simpson, this becomes a product we can sell to every agency in the market.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0" y="4800600"/>
            <a:ext cx="9144000" cy="347472"/>
          </a:xfrm>
          <a:prstGeom prst="rect">
            <a:avLst/>
          </a:prstGeom>
          <a:solidFill>
            <a:srgbClr val="FF6E02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480060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ab@barclaysimpson.com  |  Head of Risk  |  +44 (0) 207 936 2601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Prospero — The Journey</dc:title>
  <dc:subject>PptxGenJS Presentation</dc:subject>
  <dc:creator>Antony Berou</dc:creator>
  <cp:lastModifiedBy>Antony Berou</cp:lastModifiedBy>
  <cp:revision>1</cp:revision>
  <dcterms:created xsi:type="dcterms:W3CDTF">2026-04-14T16:48:08Z</dcterms:created>
  <dcterms:modified xsi:type="dcterms:W3CDTF">2026-04-14T16:48:08Z</dcterms:modified>
</cp:coreProperties>
</file>